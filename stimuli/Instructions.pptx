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62" r:id="rId4"/>
    <p:sldId id="263" r:id="rId5"/>
    <p:sldId id="264" r:id="rId6"/>
    <p:sldId id="260" r:id="rId7"/>
    <p:sldId id="265" r:id="rId8"/>
    <p:sldId id="258" r:id="rId9"/>
    <p:sldId id="259" r:id="rId10"/>
    <p:sldId id="261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498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815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63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103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4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87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906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938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66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42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93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486318-9DF8-4AB8-B4FE-404675D97C09}" type="datetimeFigureOut">
              <a:rPr lang="en-US" smtClean="0"/>
              <a:t>1/28/2022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BD44F-1C5F-454B-BD88-9662E50F5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5957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latin typeface="Georgia" panose="02040502050405020303" pitchFamily="18" charset="0"/>
              </a:rPr>
              <a:t>Welcome to the</a:t>
            </a:r>
            <a:br>
              <a:rPr lang="en-US" dirty="0" smtClean="0">
                <a:latin typeface="Georgia" panose="02040502050405020303" pitchFamily="18" charset="0"/>
              </a:rPr>
            </a:br>
            <a:r>
              <a:rPr lang="en-US" dirty="0" smtClean="0">
                <a:latin typeface="Georgia" panose="02040502050405020303" pitchFamily="18" charset="0"/>
              </a:rPr>
              <a:t>Card Guessing Game!</a:t>
            </a:r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6088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199" y="1480864"/>
            <a:ext cx="10515600" cy="4031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Thanks for coming in to participate in our study!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3200" dirty="0">
              <a:latin typeface="Georgia" panose="02040502050405020303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rPr>
              <a:t>Today you’ll be doing an experimental task while we take pictures of your brain as you lay in the MRI machine.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3200" dirty="0">
              <a:latin typeface="Georgia" panose="02040502050405020303" pitchFamily="18" charset="0"/>
            </a:endParaRPr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 smtClean="0">
                <a:latin typeface="Georgia" panose="02040502050405020303" pitchFamily="18" charset="0"/>
              </a:rPr>
              <a:t>You’ll be playing a game called the</a:t>
            </a:r>
            <a:br>
              <a:rPr lang="en-US" altLang="en-US" sz="3200" dirty="0" smtClean="0">
                <a:latin typeface="Georgia" panose="02040502050405020303" pitchFamily="18" charset="0"/>
              </a:rPr>
            </a:br>
            <a:r>
              <a:rPr lang="en-US" altLang="en-US" sz="3200" dirty="0" smtClean="0">
                <a:latin typeface="Georgia" panose="02040502050405020303" pitchFamily="18" charset="0"/>
              </a:rPr>
              <a:t>Card Guessing Game.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355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4835" y="1436743"/>
            <a:ext cx="10515600" cy="4351338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latin typeface="Georgia" panose="02040502050405020303" pitchFamily="18" charset="0"/>
              </a:rPr>
              <a:t>In this game, all you have to do on each trial of the task is guess whether the value of a card that appears on the screen is higher or lower than the number </a:t>
            </a:r>
            <a:r>
              <a:rPr lang="en-US" altLang="en-US" dirty="0" smtClean="0">
                <a:latin typeface="Georgia" panose="02040502050405020303" pitchFamily="18" charset="0"/>
              </a:rPr>
              <a:t>5.</a:t>
            </a:r>
            <a:endParaRPr lang="en-US" altLang="en-US" dirty="0">
              <a:latin typeface="Georgia" panose="02040502050405020303" pitchFamily="18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latin typeface="Georgia" panose="02040502050405020303" pitchFamily="18" charset="0"/>
              </a:rPr>
              <a:t>The number on the card can be between 1 and </a:t>
            </a:r>
            <a:r>
              <a:rPr lang="en-US" altLang="en-US" dirty="0" smtClean="0">
                <a:latin typeface="Georgia" panose="02040502050405020303" pitchFamily="18" charset="0"/>
              </a:rPr>
              <a:t>10.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If </a:t>
            </a:r>
            <a:r>
              <a:rPr lang="en-US" altLang="en-US" dirty="0">
                <a:latin typeface="Georgia" panose="02040502050405020303" pitchFamily="18" charset="0"/>
              </a:rPr>
              <a:t>you guess correctly, you will earn $10 for that </a:t>
            </a:r>
            <a:r>
              <a:rPr lang="en-US" altLang="en-US" dirty="0" smtClean="0">
                <a:latin typeface="Georgia" panose="02040502050405020303" pitchFamily="18" charset="0"/>
              </a:rPr>
              <a:t>trial.</a:t>
            </a:r>
            <a:endParaRPr lang="en-US" altLang="en-US" dirty="0">
              <a:latin typeface="Georgia" panose="02040502050405020303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If </a:t>
            </a:r>
            <a:r>
              <a:rPr lang="en-US" altLang="en-US" dirty="0">
                <a:latin typeface="Georgia" panose="02040502050405020303" pitchFamily="18" charset="0"/>
              </a:rPr>
              <a:t>you guess incorrectly, you will lose $5 for that </a:t>
            </a:r>
            <a:r>
              <a:rPr lang="en-US" altLang="en-US" dirty="0" smtClean="0">
                <a:latin typeface="Georgia" panose="02040502050405020303" pitchFamily="18" charset="0"/>
              </a:rPr>
              <a:t>trial.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If </a:t>
            </a:r>
            <a:r>
              <a:rPr lang="en-US" altLang="en-US" dirty="0">
                <a:latin typeface="Georgia" panose="02040502050405020303" pitchFamily="18" charset="0"/>
              </a:rPr>
              <a:t>the card number is exactly 5, nothing happens.</a:t>
            </a:r>
          </a:p>
        </p:txBody>
      </p:sp>
    </p:spTree>
    <p:extLst>
      <p:ext uri="{BB962C8B-B14F-4D97-AF65-F5344CB8AC3E}">
        <p14:creationId xmlns:p14="http://schemas.microsoft.com/office/powerpoint/2010/main" val="116072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94397"/>
            <a:ext cx="10515600" cy="4351338"/>
          </a:xfrm>
        </p:spPr>
        <p:txBody>
          <a:bodyPr>
            <a:normAutofit/>
          </a:bodyPr>
          <a:lstStyle/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Importantly, you will be playing with </a:t>
            </a:r>
            <a:r>
              <a:rPr lang="en-US" altLang="en-US" b="1" dirty="0" smtClean="0">
                <a:latin typeface="Georgia" panose="02040502050405020303" pitchFamily="18" charset="0"/>
              </a:rPr>
              <a:t>2 partners today </a:t>
            </a:r>
            <a:r>
              <a:rPr lang="en-US" altLang="en-US" dirty="0" smtClean="0">
                <a:latin typeface="Georgia" panose="02040502050405020303" pitchFamily="18" charset="0"/>
              </a:rPr>
              <a:t>and you will be </a:t>
            </a:r>
            <a:r>
              <a:rPr lang="en-US" altLang="en-US" i="1" dirty="0" smtClean="0">
                <a:latin typeface="Georgia" panose="02040502050405020303" pitchFamily="18" charset="0"/>
              </a:rPr>
              <a:t>sharing</a:t>
            </a:r>
            <a:r>
              <a:rPr lang="en-US" altLang="en-US" dirty="0" smtClean="0">
                <a:latin typeface="Georgia" panose="02040502050405020303" pitchFamily="18" charset="0"/>
              </a:rPr>
              <a:t> the monetary outcomes of the task with </a:t>
            </a:r>
            <a:r>
              <a:rPr lang="en-US" altLang="en-US" dirty="0" smtClean="0">
                <a:latin typeface="Georgia" panose="02040502050405020303" pitchFamily="18" charset="0"/>
              </a:rPr>
              <a:t>them.</a:t>
            </a:r>
            <a:endParaRPr lang="en-US" altLang="en-US" dirty="0" smtClean="0">
              <a:latin typeface="Georgia" panose="02040502050405020303" pitchFamily="18" charset="0"/>
            </a:endParaRP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Sometimes you will be playing with a computer, and other times you will be playing with a stranger.</a:t>
            </a: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This person is a real individual who has participated in our study recently, and who will receive payment based on your performance in the task, but whom you won’t get to meet.   </a:t>
            </a:r>
          </a:p>
        </p:txBody>
      </p:sp>
    </p:spTree>
    <p:extLst>
      <p:ext uri="{BB962C8B-B14F-4D97-AF65-F5344CB8AC3E}">
        <p14:creationId xmlns:p14="http://schemas.microsoft.com/office/powerpoint/2010/main" val="1520064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9731" y="1426232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You will know which partner you are playing with on a given set of trials by the </a:t>
            </a:r>
            <a:r>
              <a:rPr lang="en-US" altLang="en-US" i="1" dirty="0" smtClean="0">
                <a:latin typeface="Georgia" panose="02040502050405020303" pitchFamily="18" charset="0"/>
              </a:rPr>
              <a:t>image that appears at the top of the screen </a:t>
            </a:r>
            <a:r>
              <a:rPr lang="en-US" altLang="en-US" dirty="0" smtClean="0">
                <a:latin typeface="Georgia" panose="02040502050405020303" pitchFamily="18" charset="0"/>
              </a:rPr>
              <a:t>above the card.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The card will appear in the middle of the screen on each trial with a </a:t>
            </a:r>
            <a:r>
              <a:rPr lang="en-US" altLang="en-US" b="1" dirty="0" smtClean="0">
                <a:latin typeface="Georgia" panose="02040502050405020303" pitchFamily="18" charset="0"/>
              </a:rPr>
              <a:t>question mark </a:t>
            </a:r>
            <a:r>
              <a:rPr lang="en-US" altLang="en-US" dirty="0" smtClean="0">
                <a:latin typeface="Georgia" panose="02040502050405020303" pitchFamily="18" charset="0"/>
              </a:rPr>
              <a:t>inside.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The question mark will remain on the screen for approximately </a:t>
            </a:r>
            <a:r>
              <a:rPr lang="en-US" altLang="en-US" b="1" dirty="0" smtClean="0">
                <a:latin typeface="Georgia" panose="02040502050405020303" pitchFamily="18" charset="0"/>
              </a:rPr>
              <a:t>2.5 seconds</a:t>
            </a:r>
            <a:r>
              <a:rPr lang="en-US" altLang="en-US" dirty="0" smtClean="0">
                <a:latin typeface="Georgia" panose="02040502050405020303" pitchFamily="18" charset="0"/>
              </a:rPr>
              <a:t>, and during this time you have to enter your guess regarding the card value.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Press with your </a:t>
            </a:r>
            <a:r>
              <a:rPr lang="en-US" altLang="en-US" i="1" dirty="0" smtClean="0">
                <a:latin typeface="Georgia" panose="02040502050405020303" pitchFamily="18" charset="0"/>
              </a:rPr>
              <a:t>left index finger </a:t>
            </a:r>
            <a:r>
              <a:rPr lang="en-US" altLang="en-US" dirty="0" smtClean="0">
                <a:latin typeface="Georgia" panose="02040502050405020303" pitchFamily="18" charset="0"/>
              </a:rPr>
              <a:t>if you think the card will be lower than 5, and press with your </a:t>
            </a:r>
            <a:r>
              <a:rPr lang="en-US" altLang="en-US" i="1" dirty="0" smtClean="0">
                <a:latin typeface="Georgia" panose="02040502050405020303" pitchFamily="18" charset="0"/>
              </a:rPr>
              <a:t>right index finger</a:t>
            </a:r>
            <a:r>
              <a:rPr lang="en-US" altLang="en-US" dirty="0" smtClean="0">
                <a:latin typeface="Georgia" panose="02040502050405020303" pitchFamily="18" charset="0"/>
              </a:rPr>
              <a:t> if you think the card will be higher than 5.</a:t>
            </a:r>
          </a:p>
        </p:txBody>
      </p:sp>
    </p:spTree>
    <p:extLst>
      <p:ext uri="{BB962C8B-B14F-4D97-AF65-F5344CB8AC3E}">
        <p14:creationId xmlns:p14="http://schemas.microsoft.com/office/powerpoint/2010/main" val="1792649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5102" y="522342"/>
            <a:ext cx="2661795" cy="4351338"/>
          </a:xfrm>
        </p:spPr>
      </p:pic>
      <p:sp>
        <p:nvSpPr>
          <p:cNvPr id="5" name="Rectangle 4"/>
          <p:cNvSpPr/>
          <p:nvPr/>
        </p:nvSpPr>
        <p:spPr>
          <a:xfrm>
            <a:off x="3047999" y="5030897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dirty="0" smtClean="0">
                <a:latin typeface="Georgia" panose="02040502050405020303" pitchFamily="18" charset="0"/>
              </a:rPr>
              <a:t>The image above the card will either be of a computer, or the </a:t>
            </a:r>
            <a:r>
              <a:rPr lang="en-US" smtClean="0">
                <a:latin typeface="Georgia" panose="02040502050405020303" pitchFamily="18" charset="0"/>
              </a:rPr>
              <a:t>recent </a:t>
            </a:r>
            <a:r>
              <a:rPr lang="en-US" smtClean="0">
                <a:latin typeface="Georgia" panose="02040502050405020303" pitchFamily="18" charset="0"/>
              </a:rPr>
              <a:t>participant whose </a:t>
            </a:r>
            <a:r>
              <a:rPr lang="en-US" dirty="0" smtClean="0">
                <a:latin typeface="Georgia" panose="02040502050405020303" pitchFamily="18" charset="0"/>
              </a:rPr>
              <a:t>reward depends on your performance. When you make a guess, the question mark on the screen will turn orange, as pictured.</a:t>
            </a:r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808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1262" y="1468272"/>
            <a:ext cx="10515600" cy="4351338"/>
          </a:xfrm>
        </p:spPr>
        <p:txBody>
          <a:bodyPr>
            <a:normAutofit fontScale="700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None/>
            </a:pPr>
            <a:r>
              <a:rPr lang="en-US" altLang="en-US" b="1" dirty="0" smtClean="0">
                <a:latin typeface="Georgia" panose="02040502050405020303" pitchFamily="18" charset="0"/>
              </a:rPr>
              <a:t>Every monetary outcome on each trial of the task will be shared equally between you and your partner on the screen</a:t>
            </a:r>
            <a:r>
              <a:rPr lang="en-US" altLang="en-US" dirty="0" smtClean="0">
                <a:latin typeface="Georgia" panose="02040502050405020303" pitchFamily="18" charset="0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Earning $10 for guessing correctly means that you earn $5 for yourself and $5 for your partner.</a:t>
            </a:r>
            <a:endParaRPr lang="en-US" altLang="en-US" dirty="0">
              <a:latin typeface="Georgia" panose="02040502050405020303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Losing $5 for an incorrect guess means that both you and your partner will each lose $2.50.</a:t>
            </a: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None/>
            </a:pPr>
            <a:r>
              <a:rPr lang="en-US" b="1" dirty="0">
                <a:latin typeface="Georgia" panose="02040502050405020303" pitchFamily="18" charset="0"/>
                <a:cs typeface="Arial" panose="020B0604020202020204" pitchFamily="34" charset="0"/>
              </a:rPr>
              <a:t>After you indicate your choice, you will see the actual value of the </a:t>
            </a:r>
            <a:r>
              <a:rPr lang="en-US" b="1" dirty="0" smtClean="0">
                <a:latin typeface="Georgia" panose="02040502050405020303" pitchFamily="18" charset="0"/>
                <a:cs typeface="Arial" panose="020B0604020202020204" pitchFamily="34" charset="0"/>
              </a:rPr>
              <a:t>card.</a:t>
            </a:r>
          </a:p>
          <a:p>
            <a:pPr eaLnBrk="0" fontAlgn="base" hangingPunct="0">
              <a:spcBef>
                <a:spcPts val="1200"/>
              </a:spcBef>
              <a:spcAft>
                <a:spcPct val="0"/>
              </a:spcAft>
            </a:pP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If </a:t>
            </a:r>
            <a:r>
              <a:rPr lang="en-US" dirty="0">
                <a:latin typeface="Georgia" panose="02040502050405020303" pitchFamily="18" charset="0"/>
                <a:cs typeface="Arial" panose="020B0604020202020204" pitchFamily="34" charset="0"/>
              </a:rPr>
              <a:t>your guess was correct, you'll see a green arrow pointing up, indicating monetary </a:t>
            </a: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gain.</a:t>
            </a:r>
          </a:p>
          <a:p>
            <a:pPr eaLnBrk="0" fontAlgn="base" hangingPunct="0">
              <a:spcBef>
                <a:spcPts val="1200"/>
              </a:spcBef>
              <a:spcAft>
                <a:spcPct val="0"/>
              </a:spcAft>
            </a:pP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If </a:t>
            </a:r>
            <a:r>
              <a:rPr lang="en-US" dirty="0">
                <a:latin typeface="Georgia" panose="02040502050405020303" pitchFamily="18" charset="0"/>
                <a:cs typeface="Arial" panose="020B0604020202020204" pitchFamily="34" charset="0"/>
              </a:rPr>
              <a:t>it was incorrect, you'll see a red arrow pointing down indicating a </a:t>
            </a: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loss.</a:t>
            </a:r>
          </a:p>
          <a:p>
            <a:pPr eaLnBrk="0" fontAlgn="base" hangingPunct="0">
              <a:spcBef>
                <a:spcPts val="1200"/>
              </a:spcBef>
              <a:spcAft>
                <a:spcPct val="0"/>
              </a:spcAft>
            </a:pPr>
            <a:r>
              <a:rPr lang="en-US" dirty="0" smtClean="0">
                <a:latin typeface="Georgia" panose="02040502050405020303" pitchFamily="18" charset="0"/>
                <a:cs typeface="Arial" panose="020B0604020202020204" pitchFamily="34" charset="0"/>
              </a:rPr>
              <a:t>If </a:t>
            </a:r>
            <a:r>
              <a:rPr lang="en-US" dirty="0">
                <a:latin typeface="Georgia" panose="02040502050405020303" pitchFamily="18" charset="0"/>
                <a:cs typeface="Arial" panose="020B0604020202020204" pitchFamily="34" charset="0"/>
              </a:rPr>
              <a:t>you happen to not respond within the 2.5 seconds, you won't see anything but the value of the card, and a # sign will show on the screen.</a:t>
            </a:r>
            <a:endParaRPr lang="en-US" altLang="en-US" dirty="0" smtClean="0">
              <a:latin typeface="Georgia" panose="02040502050405020303" pitchFamily="18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182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1979" y="754067"/>
            <a:ext cx="3668041" cy="4351338"/>
          </a:xfrm>
        </p:spPr>
      </p:pic>
      <p:sp>
        <p:nvSpPr>
          <p:cNvPr id="5" name="Rectangle 4"/>
          <p:cNvSpPr/>
          <p:nvPr/>
        </p:nvSpPr>
        <p:spPr>
          <a:xfrm>
            <a:off x="2772736" y="5354159"/>
            <a:ext cx="664652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 smtClean="0">
                <a:latin typeface="Georgia" panose="02040502050405020303" pitchFamily="18" charset="0"/>
              </a:rPr>
              <a:t>For example, imagine you guessed ‘lower than 5’ and the card was an ‘8.’ In this case, a red down arrow would appear, meaning an incorrect guess and monetary loss of $2.50 each for you and whichever partner was on the screen.</a:t>
            </a:r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3733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2290" y="791666"/>
            <a:ext cx="3807420" cy="4351338"/>
          </a:xfrm>
        </p:spPr>
      </p:pic>
      <p:sp>
        <p:nvSpPr>
          <p:cNvPr id="5" name="Rectangle 4"/>
          <p:cNvSpPr/>
          <p:nvPr/>
        </p:nvSpPr>
        <p:spPr>
          <a:xfrm>
            <a:off x="3048000" y="534774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dirty="0" smtClean="0">
                <a:latin typeface="Georgia" panose="02040502050405020303" pitchFamily="18" charset="0"/>
              </a:rPr>
              <a:t>If the card had been a ‘4,’ then a guess of ‘lower than 5’ would have been correct. In this case you would see a green arrow pointing up, meaning monetary gain of </a:t>
            </a:r>
            <a:r>
              <a:rPr lang="en-US" dirty="0">
                <a:latin typeface="Georgia" panose="02040502050405020303" pitchFamily="18" charset="0"/>
              </a:rPr>
              <a:t>$</a:t>
            </a:r>
            <a:r>
              <a:rPr lang="en-US" dirty="0" smtClean="0">
                <a:latin typeface="Georgia" panose="02040502050405020303" pitchFamily="18" charset="0"/>
              </a:rPr>
              <a:t>5 </a:t>
            </a:r>
            <a:r>
              <a:rPr lang="en-US" dirty="0" smtClean="0">
                <a:latin typeface="Georgia" panose="02040502050405020303" pitchFamily="18" charset="0"/>
              </a:rPr>
              <a:t>each for you the partner on the screen</a:t>
            </a:r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4260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47999" y="559492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dirty="0" smtClean="0">
                <a:latin typeface="Georgia" panose="02040502050405020303" pitchFamily="18" charset="0"/>
              </a:rPr>
              <a:t>If you don’t respond in time, you will see the above symbol</a:t>
            </a:r>
            <a:endParaRPr lang="en-US" dirty="0">
              <a:latin typeface="Georgia" panose="02040502050405020303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7216" y="887012"/>
            <a:ext cx="3557567" cy="445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187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49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At the end of the task, we will </a:t>
            </a:r>
            <a:r>
              <a:rPr lang="en-US" altLang="en-US" i="1" dirty="0" smtClean="0">
                <a:latin typeface="Georgia" panose="02040502050405020303" pitchFamily="18" charset="0"/>
              </a:rPr>
              <a:t>randomly choose ten trials </a:t>
            </a:r>
            <a:r>
              <a:rPr lang="en-US" altLang="en-US" dirty="0" smtClean="0">
                <a:latin typeface="Georgia" panose="02040502050405020303" pitchFamily="18" charset="0"/>
              </a:rPr>
              <a:t>and will pay both you and your partner your total earnings for those trials.</a:t>
            </a: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Any money earned with the computer will go back into a pool of general lab funds.</a:t>
            </a:r>
          </a:p>
          <a:p>
            <a:pPr eaLnBrk="0" fontAlgn="base" hangingPunct="0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</a:pPr>
            <a:r>
              <a:rPr lang="en-US" altLang="en-US" dirty="0" smtClean="0">
                <a:latin typeface="Georgia" panose="02040502050405020303" pitchFamily="18" charset="0"/>
              </a:rPr>
              <a:t>There's no penalty for missing a trial, but if we happen to choose a missed trial as one of the random ten, you and your partner can't earn anything for that trial.</a:t>
            </a:r>
          </a:p>
          <a:p>
            <a:pPr marL="0" indent="0">
              <a:buNone/>
            </a:pPr>
            <a:endParaRPr lang="en-US" altLang="en-US" dirty="0">
              <a:latin typeface="Georgia" panose="02040502050405020303" pitchFamily="18" charset="0"/>
            </a:endParaRPr>
          </a:p>
          <a:p>
            <a:pPr marL="0" indent="0" algn="ctr">
              <a:buNone/>
            </a:pPr>
            <a:r>
              <a:rPr lang="en-US" altLang="en-US" dirty="0" smtClean="0">
                <a:latin typeface="Georgia" panose="02040502050405020303" pitchFamily="18" charset="0"/>
              </a:rPr>
              <a:t>Do you have any questions? We will go through some </a:t>
            </a:r>
            <a:r>
              <a:rPr lang="en-US" altLang="en-US" i="1" dirty="0" smtClean="0">
                <a:latin typeface="Georgia" panose="02040502050405020303" pitchFamily="18" charset="0"/>
              </a:rPr>
              <a:t>practice trials </a:t>
            </a:r>
            <a:r>
              <a:rPr lang="en-US" altLang="en-US" dirty="0" smtClean="0">
                <a:latin typeface="Georgia" panose="02040502050405020303" pitchFamily="18" charset="0"/>
              </a:rPr>
              <a:t>before you complete the actual experiment in the scanner so you can get used to the timing of the task. </a:t>
            </a:r>
            <a:r>
              <a:rPr lang="en-US" altLang="en-US" b="1" dirty="0" smtClean="0">
                <a:latin typeface="Georgia" panose="02040502050405020303" pitchFamily="18" charset="0"/>
              </a:rPr>
              <a:t>Please let us know if anything about the game is unclear. </a:t>
            </a:r>
          </a:p>
          <a:p>
            <a:endParaRPr lang="en-US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8836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483</TotalTime>
  <Words>762</Words>
  <Application>Microsoft Office PowerPoint</Application>
  <PresentationFormat>Widescreen</PresentationFormat>
  <Paragraphs>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Georgia</vt:lpstr>
      <vt:lpstr>Office Theme</vt:lpstr>
      <vt:lpstr>Welcome to the Card Guessing Game!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Temple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Ori Zaff</dc:creator>
  <cp:lastModifiedBy>Ori Zaff</cp:lastModifiedBy>
  <cp:revision>11</cp:revision>
  <dcterms:created xsi:type="dcterms:W3CDTF">2022-01-24T17:21:52Z</dcterms:created>
  <dcterms:modified xsi:type="dcterms:W3CDTF">2022-01-28T20:14:01Z</dcterms:modified>
</cp:coreProperties>
</file>