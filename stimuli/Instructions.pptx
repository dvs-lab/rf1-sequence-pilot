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0" r:id="rId7"/>
    <p:sldId id="265" r:id="rId8"/>
    <p:sldId id="258" r:id="rId9"/>
    <p:sldId id="259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7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5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9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1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6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6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5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6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0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076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87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1499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57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0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86318-9DF8-4AB8-B4FE-404675D97C09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3ABD44F-1C5F-454B-BD88-9662E50F5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6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the</a:t>
            </a:r>
            <a:br>
              <a:rPr lang="en-US" dirty="0" smtClean="0"/>
            </a:br>
            <a:r>
              <a:rPr lang="en-US" dirty="0" smtClean="0"/>
              <a:t>Card Guessing Game!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88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1480864"/>
            <a:ext cx="105156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Thanks for coming in to participate in our study!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 you’ll be doing an experimental task while we take pictures of your brain as you lay in the MRI machine.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 smtClean="0">
                <a:latin typeface="Arial" panose="020B0604020202020204" pitchFamily="34" charset="0"/>
              </a:rPr>
              <a:t>You’ll be playing a game called the</a:t>
            </a:r>
            <a:br>
              <a:rPr lang="en-US" altLang="en-US" sz="3200" dirty="0" smtClean="0">
                <a:latin typeface="Arial" panose="020B0604020202020204" pitchFamily="34" charset="0"/>
              </a:rPr>
            </a:br>
            <a:r>
              <a:rPr lang="en-US" altLang="en-US" sz="3200" dirty="0" smtClean="0">
                <a:latin typeface="Arial" panose="020B0604020202020204" pitchFamily="34" charset="0"/>
              </a:rPr>
              <a:t>Card Guessing Game.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35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835" y="1436743"/>
            <a:ext cx="10515600" cy="435133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In this game, all you have to do on each trial of the task is guess whether the value of a card that appears on the screen is higher or lower than the number </a:t>
            </a:r>
            <a:r>
              <a:rPr lang="en-US" altLang="en-US" dirty="0" smtClean="0">
                <a:latin typeface="Arial" panose="020B0604020202020204" pitchFamily="34" charset="0"/>
              </a:rPr>
              <a:t>5.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The number on the card can be between 1 and </a:t>
            </a:r>
            <a:r>
              <a:rPr lang="en-US" altLang="en-US" dirty="0" smtClean="0">
                <a:latin typeface="Arial" panose="020B0604020202020204" pitchFamily="34" charset="0"/>
              </a:rPr>
              <a:t>10.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If </a:t>
            </a:r>
            <a:r>
              <a:rPr lang="en-US" altLang="en-US" dirty="0">
                <a:latin typeface="Arial" panose="020B0604020202020204" pitchFamily="34" charset="0"/>
              </a:rPr>
              <a:t>you guess correctly, you will earn $10 for that </a:t>
            </a:r>
            <a:r>
              <a:rPr lang="en-US" altLang="en-US" dirty="0" smtClean="0">
                <a:latin typeface="Arial" panose="020B0604020202020204" pitchFamily="34" charset="0"/>
              </a:rPr>
              <a:t>trial.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If </a:t>
            </a:r>
            <a:r>
              <a:rPr lang="en-US" altLang="en-US" dirty="0">
                <a:latin typeface="Arial" panose="020B0604020202020204" pitchFamily="34" charset="0"/>
              </a:rPr>
              <a:t>you guess incorrectly, you will lose $5 for that </a:t>
            </a:r>
            <a:r>
              <a:rPr lang="en-US" altLang="en-US" dirty="0" smtClean="0">
                <a:latin typeface="Arial" panose="020B0604020202020204" pitchFamily="34" charset="0"/>
              </a:rPr>
              <a:t>trial.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If </a:t>
            </a:r>
            <a:r>
              <a:rPr lang="en-US" altLang="en-US" dirty="0">
                <a:latin typeface="Arial" panose="020B0604020202020204" pitchFamily="34" charset="0"/>
              </a:rPr>
              <a:t>the card number is exactly 5, nothing happens.</a:t>
            </a:r>
          </a:p>
        </p:txBody>
      </p:sp>
    </p:spTree>
    <p:extLst>
      <p:ext uri="{BB962C8B-B14F-4D97-AF65-F5344CB8AC3E}">
        <p14:creationId xmlns:p14="http://schemas.microsoft.com/office/powerpoint/2010/main" val="116072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397"/>
            <a:ext cx="10515600" cy="4351338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Importantly, you will be playing with </a:t>
            </a:r>
            <a:r>
              <a:rPr lang="en-US" altLang="en-US" b="1" dirty="0" smtClean="0">
                <a:latin typeface="Arial" panose="020B0604020202020204" pitchFamily="34" charset="0"/>
              </a:rPr>
              <a:t>2 partners today </a:t>
            </a:r>
            <a:r>
              <a:rPr lang="en-US" altLang="en-US" dirty="0" smtClean="0">
                <a:latin typeface="Arial" panose="020B0604020202020204" pitchFamily="34" charset="0"/>
              </a:rPr>
              <a:t>and you will be </a:t>
            </a:r>
            <a:r>
              <a:rPr lang="en-US" altLang="en-US" i="1" dirty="0" smtClean="0">
                <a:latin typeface="Arial" panose="020B0604020202020204" pitchFamily="34" charset="0"/>
              </a:rPr>
              <a:t>sharing</a:t>
            </a:r>
            <a:r>
              <a:rPr lang="en-US" altLang="en-US" dirty="0" smtClean="0">
                <a:latin typeface="Arial" panose="020B0604020202020204" pitchFamily="34" charset="0"/>
              </a:rPr>
              <a:t> the monetary outcomes of the task with them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Sometimes you will be playing with a computer, and other times you will be playing with a stranger.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This person is a real individual who has participated in our study recently, and who will receive payment based on your performance in the task, but whom you won’t get to meet.   </a:t>
            </a:r>
          </a:p>
        </p:txBody>
      </p:sp>
    </p:spTree>
    <p:extLst>
      <p:ext uri="{BB962C8B-B14F-4D97-AF65-F5344CB8AC3E}">
        <p14:creationId xmlns:p14="http://schemas.microsoft.com/office/powerpoint/2010/main" val="152006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731" y="1426232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You will know which partner you are playing with on a given set of trials by the </a:t>
            </a:r>
            <a:r>
              <a:rPr lang="en-US" altLang="en-US" i="1" dirty="0" smtClean="0">
                <a:latin typeface="Arial" panose="020B0604020202020204" pitchFamily="34" charset="0"/>
              </a:rPr>
              <a:t>image that appears at the top of the screen </a:t>
            </a:r>
            <a:r>
              <a:rPr lang="en-US" altLang="en-US" dirty="0" smtClean="0">
                <a:latin typeface="Arial" panose="020B0604020202020204" pitchFamily="34" charset="0"/>
              </a:rPr>
              <a:t>above the card.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The card will appear in the middle of the screen on each trial with a </a:t>
            </a:r>
            <a:r>
              <a:rPr lang="en-US" altLang="en-US" b="1" dirty="0" smtClean="0">
                <a:latin typeface="Arial" panose="020B0604020202020204" pitchFamily="34" charset="0"/>
              </a:rPr>
              <a:t>question mark </a:t>
            </a:r>
            <a:r>
              <a:rPr lang="en-US" altLang="en-US" dirty="0" smtClean="0">
                <a:latin typeface="Arial" panose="020B0604020202020204" pitchFamily="34" charset="0"/>
              </a:rPr>
              <a:t>inside.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The question mark will remain on the screen for approximately </a:t>
            </a:r>
            <a:r>
              <a:rPr lang="en-US" altLang="en-US" b="1" dirty="0" smtClean="0">
                <a:latin typeface="Arial" panose="020B0604020202020204" pitchFamily="34" charset="0"/>
              </a:rPr>
              <a:t>2.5 seconds</a:t>
            </a:r>
            <a:r>
              <a:rPr lang="en-US" altLang="en-US" dirty="0" smtClean="0">
                <a:latin typeface="Arial" panose="020B0604020202020204" pitchFamily="34" charset="0"/>
              </a:rPr>
              <a:t>, and during this time you have to enter your guess regarding the card value.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Press with your </a:t>
            </a:r>
            <a:r>
              <a:rPr lang="en-US" altLang="en-US" i="1" dirty="0" smtClean="0">
                <a:latin typeface="Arial" panose="020B0604020202020204" pitchFamily="34" charset="0"/>
              </a:rPr>
              <a:t>left index finger </a:t>
            </a:r>
            <a:r>
              <a:rPr lang="en-US" altLang="en-US" dirty="0" smtClean="0">
                <a:latin typeface="Arial" panose="020B0604020202020204" pitchFamily="34" charset="0"/>
              </a:rPr>
              <a:t>if you think the card will be lower than 5, and press with your </a:t>
            </a:r>
            <a:r>
              <a:rPr lang="en-US" altLang="en-US" i="1" dirty="0" smtClean="0">
                <a:latin typeface="Arial" panose="020B0604020202020204" pitchFamily="34" charset="0"/>
              </a:rPr>
              <a:t>right index finger</a:t>
            </a:r>
            <a:r>
              <a:rPr lang="en-US" altLang="en-US" dirty="0" smtClean="0">
                <a:latin typeface="Arial" panose="020B0604020202020204" pitchFamily="34" charset="0"/>
              </a:rPr>
              <a:t> if you think the card will be higher than 5.</a:t>
            </a:r>
          </a:p>
        </p:txBody>
      </p:sp>
    </p:spTree>
    <p:extLst>
      <p:ext uri="{BB962C8B-B14F-4D97-AF65-F5344CB8AC3E}">
        <p14:creationId xmlns:p14="http://schemas.microsoft.com/office/powerpoint/2010/main" val="179264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102" y="522342"/>
            <a:ext cx="2661795" cy="4351338"/>
          </a:xfrm>
        </p:spPr>
      </p:pic>
      <p:sp>
        <p:nvSpPr>
          <p:cNvPr id="5" name="Rectangle 4"/>
          <p:cNvSpPr/>
          <p:nvPr/>
        </p:nvSpPr>
        <p:spPr>
          <a:xfrm>
            <a:off x="3047999" y="503089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The image above the card will either be of a computer, or the recent participant who you’re partner whose reward depends on your performance. When you make a guess, the question mark on the screen will turn orange, as pictured.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80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262" y="1468272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Arial" panose="020B0604020202020204" pitchFamily="34" charset="0"/>
              </a:rPr>
              <a:t>Every monetary outcome on each trial of the task will be shared equally between you and your partner on the screen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Earning $10 for guessing correctly means that you earn $5 for yourself and $5 for your partner.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Losing $5 for an incorrect guess means that both you and your partner will each lose $2.50.</a:t>
            </a:r>
          </a:p>
          <a:p>
            <a:pPr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After you indicate your choice, you will see the actual value of the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card.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your guess was correct, you'll see a green arrow pointing up, indicating monetary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gain.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was incorrect, you'll see a red arrow pointing down indicating 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loss.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happen to not respond within the 2.5 seconds, you won't see anything but the value of the card, and a # sign will show on the screen.</a:t>
            </a:r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8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979" y="754067"/>
            <a:ext cx="3668041" cy="4351338"/>
          </a:xfrm>
        </p:spPr>
      </p:pic>
      <p:sp>
        <p:nvSpPr>
          <p:cNvPr id="5" name="Rectangle 4"/>
          <p:cNvSpPr/>
          <p:nvPr/>
        </p:nvSpPr>
        <p:spPr>
          <a:xfrm>
            <a:off x="2772736" y="5354159"/>
            <a:ext cx="6646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For example, imagine you guessed ‘lower than 5’ and the card was an ‘8.’ In this case, a red down arrow would appear, meaning an incorrect guess and monetary loss of $2.50 each for you and whichever partner was on the screen.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3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290" y="791666"/>
            <a:ext cx="3807420" cy="4351338"/>
          </a:xfrm>
        </p:spPr>
      </p:pic>
      <p:sp>
        <p:nvSpPr>
          <p:cNvPr id="5" name="Rectangle 4"/>
          <p:cNvSpPr/>
          <p:nvPr/>
        </p:nvSpPr>
        <p:spPr>
          <a:xfrm>
            <a:off x="3048000" y="534774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If the card had been a ‘4,’ then a guess of ‘lower than 5’ would have been correct. In this case you would see a green arrow pointing up, meaning monetary gain of ‘5’ each for you the partner on the screen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26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7999" y="559492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If you don’t respond in time, you will see the above symbol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216" y="887012"/>
            <a:ext cx="3557567" cy="44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8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494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At the end of the task, we will </a:t>
            </a:r>
            <a:r>
              <a:rPr lang="en-US" altLang="en-US" i="1" dirty="0" smtClean="0">
                <a:latin typeface="Arial" panose="020B0604020202020204" pitchFamily="34" charset="0"/>
              </a:rPr>
              <a:t>randomly choose ten trials </a:t>
            </a:r>
            <a:r>
              <a:rPr lang="en-US" altLang="en-US" dirty="0" smtClean="0">
                <a:latin typeface="Arial" panose="020B0604020202020204" pitchFamily="34" charset="0"/>
              </a:rPr>
              <a:t>and will pay both you and your partner your total earnings for those trials.</a:t>
            </a:r>
          </a:p>
          <a:p>
            <a:pPr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Any money earned with the computer will go back into a pool of general lab funds.</a:t>
            </a:r>
          </a:p>
          <a:p>
            <a:pPr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There's no penalty for missing a trial, but if we happen to choose a missed trial as one of the random ten, you and your partner can't earn anything for that trial.</a:t>
            </a: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Do you have any questions? We will go through some </a:t>
            </a:r>
            <a:r>
              <a:rPr lang="en-US" altLang="en-US" i="1" dirty="0" smtClean="0">
                <a:latin typeface="Arial" panose="020B0604020202020204" pitchFamily="34" charset="0"/>
              </a:rPr>
              <a:t>practice trials </a:t>
            </a:r>
            <a:r>
              <a:rPr lang="en-US" altLang="en-US" dirty="0" smtClean="0">
                <a:latin typeface="Arial" panose="020B0604020202020204" pitchFamily="34" charset="0"/>
              </a:rPr>
              <a:t>before you complete the actual experiment in the scanner so you can get used to the timing of the task. </a:t>
            </a:r>
            <a:r>
              <a:rPr lang="en-US" altLang="en-US" b="1" dirty="0" smtClean="0">
                <a:latin typeface="Arial" panose="020B0604020202020204" pitchFamily="34" charset="0"/>
              </a:rPr>
              <a:t>Please let us know if anything about the game is unclear.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363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311</TotalTime>
  <Words>765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Welcome to the Card Guessing Game!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Temple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Ori Zaff</dc:creator>
  <cp:lastModifiedBy>Ori Zaff</cp:lastModifiedBy>
  <cp:revision>8</cp:revision>
  <dcterms:created xsi:type="dcterms:W3CDTF">2022-01-24T17:21:52Z</dcterms:created>
  <dcterms:modified xsi:type="dcterms:W3CDTF">2022-01-24T22:33:31Z</dcterms:modified>
</cp:coreProperties>
</file>